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5829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 da Aula 06 e o texto-base: o primeiro estudo empírico sobre vibe coding, de Sarkar (Cambridge/UCL) e Drosos (Microsoft Research). Objetivo da atividade: avaliar limites, riscos e potencial da colaboração entre desenvolvedores 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termo nasceu de um post de Andrej Karpathy em fevereiro de 2025, que os autores chamam de “cânone Karpathy”: a ideia de se desligar do código e confiar na ferramenta agêntica. O artigo parte dessa definição, mas investiga como o vibe coding acontece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Metodologia qualitativa: dos 35 vídeos encontrados, só 6 atendiam aos quatro critérios de qualidade (processo completo, sem cortes, com reflexão em voz alta e projeto realista); um saiu do ar, restando 5. As 9 categorias guiam toda a análise.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autores descrevem sete passos. O ponto central: a revisão e o teste (passos 3 a 6) fazem parte do próprio ciclo — não são opcionais.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prompts vão de muito vagos (“deixe mais bonito”) a muito técnicos (nomes de funções, arquivos, documentação). Os programadores ajustam o nível de detalhe conforme a IA erra. Limitar o escopo é usado explicitamente para reduzir alucinações.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criado pelos autores: context momentum. O exemplo do app de câmbio mostra como uma interpretação da IA, aceita por conveniência, virou o caminho do projeto e atrapalhou pedidos futuros. Liga diretamente ao estudo de caso: o que se aceita cedo sem revisão se propaga.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 é usada até para “pular” a depuração manual, mas quando o erro é sério os programadores voltam às técnicas tradicionais. A leitura de código vira uma varredura “impressionista”, que só funciona porque eles têm experiência.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podemos confiar apenas até onde verificamos. Os programadores dos vídeos evitaram o excesso de confiança porque revisavam, testavam e tinham conhecimento para reconhecer código ruim. O próprio TW1 diz que o “vibe coder médio” talvez não conseguisse corrigir o que ele corrigiu.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artigo contesta a ideia de que o vibe coding dispensa saber programar. Além do conhecimento técnico, surgem dois domínios: IA e produto. Ressalva importante: o estudo só observou programadores experientes (Seção 4.5).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Evidências: YT21 fez manualmente uma edição de uma linha porque pedir à IA não compensava; TW1 diz que para ajustes pequenos é mais rápido fazer à mão e para mudanças grandes prefere a IA; TW1 aceita o código que “chegou perto” e ajusta; YT22 corrigiu manualmente arquivos de ambiente. Na Seção 4.1, o modelo ideal: o humano diagnostica e planeja, a IA executa a correção.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em um teste inicial não é garantia de qualidade. As sete ações transformam o código “aparentemente funcional” em código verificado. Cada ação se apoia em evidências do texto, mostradas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“AI is just a tool” (YT22) é interpretada pelos autores como o oposto de delegar a responsabilidade: a ferramenta executa, mas quem responde pelo código é a pessoa.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autores usam a Teoria do Engajamento Material: pensamos através dos materiais, como o oleiro pensa com o barro. Ao terceirizar a manipulação do código, parte desse aprendizado se perde. Eles também alertam que o estudo é pequeno e só com especialistas.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atividade pede pelo menos dois trechos como evidência; trouxemos três, um ligado a cada questão norteadora.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são as três boas práticas pedidas no entregável. A última faixa é a boa prática que o grupo leva para a socialização (Etapa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de 5 a 8 linhas pedida no entregável, completando a frase proposta pela orientação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F08A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 06 · PROGRAMAÇÃO ASSISTIDA POR IA · UNIDADE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10883392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coding: programar conversando com a IA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2875161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C9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 na colaboração humano-IA: potencial, limites e riscos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923929"/>
            <a:ext cx="10566400" cy="0"/>
          </a:xfrm>
          <a:prstGeom prst="line">
            <a:avLst/>
          </a:prstGeom>
          <a:noFill/>
          <a:ln w="12700">
            <a:solidFill>
              <a:srgbClr val="3A3F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12800" y="5133479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Jhonathan de Moura Santos </a:t>
            </a:r>
            <a:r>
              <a:rPr lang="en-US" sz="1800" b="1" dirty="0">
                <a:solidFill>
                  <a:srgbClr val="F08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RGM 32813589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5506839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Texto-base: Advait Sarkar e Ian Drosos (2025), “Vibe coding: programming through conversation with artificial intelligence”, PPIG 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581412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39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Universitário UDF · Tendências em Ciência da Computação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vibe coding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01"/>
            <a:ext cx="5691981" cy="3707408"/>
          </a:xfrm>
          <a:prstGeom prst="roundRect">
            <a:avLst>
              <a:gd name="adj" fmla="val 2740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117600" y="2835473"/>
            <a:ext cx="52348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08A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“cânone Karpathy” · fevereiro de 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3150394"/>
            <a:ext cx="5234853" cy="1191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“Eu esqueço que o código existe. […] Sempre clico em ‘Accept All’, não leio mais os diffs. Quando aparece um erro, só copio e colo a mensagem […] e quase sempre funciona.”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7600" y="4417616"/>
            <a:ext cx="52348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Andrej Karpathy, citado pelos autores · tradução livre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1956" y="1882676"/>
            <a:ext cx="4614069" cy="1144786"/>
          </a:xfrm>
          <a:prstGeom prst="roundRect">
            <a:avLst>
              <a:gd name="adj" fmla="val 8598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942931" y="2063651"/>
            <a:ext cx="4379682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 do artigo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2931" y="2384326"/>
            <a:ext cx="437968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Programar principalmente conversando com LLMs, em vez de escrever o código à mão.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1956" y="3160812"/>
            <a:ext cx="4614069" cy="1144786"/>
          </a:xfrm>
          <a:prstGeom prst="roundRect">
            <a:avLst>
              <a:gd name="adj" fmla="val 8598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942931" y="3341787"/>
            <a:ext cx="4379682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“agênticas”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2931" y="3662462"/>
            <a:ext cx="437968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Cursor, Copilot (modo agente), Windsurf, Bolt: editam vários arquivos e rodam comandos.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1956" y="4438948"/>
            <a:ext cx="4614069" cy="1144786"/>
          </a:xfrm>
          <a:prstGeom prst="roundRect">
            <a:avLst>
              <a:gd name="adj" fmla="val 8598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942931" y="4619923"/>
            <a:ext cx="4379682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estudo descobre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42931" y="4940598"/>
            <a:ext cx="437968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prática, ninguém “esquece o código”: os programadores ainda leem, testam e corrigem.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17940"/>
            <a:ext cx="56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Resumo (p. 1) e Seção 1 — Introdução (p. 1–3)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MÉTODO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autores estudaram o vibe coding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01"/>
            <a:ext cx="341843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2692301"/>
            <a:ext cx="3418433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vídeos pré-selecionados no YouTube e na Twitch (≈ 35 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36467" y="1879501"/>
            <a:ext cx="341853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436467" y="2692301"/>
            <a:ext cx="341853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vídeos analisados em detalhe (≈ 8,5 h)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60234" y="1879501"/>
            <a:ext cx="341853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060234" y="2692301"/>
            <a:ext cx="341853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 de análise (framework analysis)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494782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vídeos mostram programadores experientes pensando em voz alta (think-aloud) enquanto constroem projetos reais: um diagrama animado, recursos para um site de jogos, um chat sobre repositórios do GitHub e um app de currículos com pagamentos.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800" y="4599682"/>
            <a:ext cx="880963" cy="314920"/>
          </a:xfrm>
          <a:prstGeom prst="roundRect">
            <a:avLst>
              <a:gd name="adj" fmla="val 50000"/>
            </a:avLst>
          </a:prstGeom>
          <a:solidFill>
            <a:srgbClr val="EAE5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52500" y="4650482"/>
            <a:ext cx="6523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69963" y="4599682"/>
            <a:ext cx="931863" cy="314920"/>
          </a:xfrm>
          <a:prstGeom prst="roundRect">
            <a:avLst>
              <a:gd name="adj" fmla="val 50000"/>
            </a:avLst>
          </a:prstGeom>
          <a:solidFill>
            <a:srgbClr val="EAE5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909663" y="4650482"/>
            <a:ext cx="7032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intenções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78026" y="4599682"/>
            <a:ext cx="1406327" cy="314920"/>
          </a:xfrm>
          <a:prstGeom prst="roundRect">
            <a:avLst>
              <a:gd name="adj" fmla="val 50000"/>
            </a:avLst>
          </a:prstGeom>
          <a:solidFill>
            <a:srgbClr val="EAE5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917726" y="4650482"/>
            <a:ext cx="1177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trabalho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60552" y="4599682"/>
            <a:ext cx="829965" cy="314920"/>
          </a:xfrm>
          <a:prstGeom prst="roundRect">
            <a:avLst>
              <a:gd name="adj" fmla="val 50000"/>
            </a:avLst>
          </a:prstGeom>
          <a:solidFill>
            <a:srgbClr val="EAE5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400252" y="4650482"/>
            <a:ext cx="601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66717" y="4599682"/>
            <a:ext cx="999728" cy="314920"/>
          </a:xfrm>
          <a:prstGeom prst="roundRect">
            <a:avLst>
              <a:gd name="adj" fmla="val 50000"/>
            </a:avLst>
          </a:prstGeom>
          <a:solidFill>
            <a:srgbClr val="EAE5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306417" y="4650482"/>
            <a:ext cx="7711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depuração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42645" y="4599682"/>
            <a:ext cx="847030" cy="314920"/>
          </a:xfrm>
          <a:prstGeom prst="roundRect">
            <a:avLst>
              <a:gd name="adj" fmla="val 50000"/>
            </a:avLst>
          </a:prstGeom>
          <a:solidFill>
            <a:srgbClr val="EAE5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382345" y="4650482"/>
            <a:ext cx="6184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65876" y="4599682"/>
            <a:ext cx="897830" cy="314920"/>
          </a:xfrm>
          <a:prstGeom prst="roundRect">
            <a:avLst>
              <a:gd name="adj" fmla="val 50000"/>
            </a:avLst>
          </a:prstGeom>
          <a:solidFill>
            <a:srgbClr val="EAE5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305576" y="4650482"/>
            <a:ext cx="6692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9906" y="4599682"/>
            <a:ext cx="931863" cy="314920"/>
          </a:xfrm>
          <a:prstGeom prst="roundRect">
            <a:avLst>
              <a:gd name="adj" fmla="val 50000"/>
            </a:avLst>
          </a:prstGeom>
          <a:solidFill>
            <a:srgbClr val="EAE5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279606" y="4650482"/>
            <a:ext cx="7032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7969" y="4599682"/>
            <a:ext cx="1914426" cy="314920"/>
          </a:xfrm>
          <a:prstGeom prst="roundRect">
            <a:avLst>
              <a:gd name="adj" fmla="val 50000"/>
            </a:avLst>
          </a:prstGeom>
          <a:solidFill>
            <a:srgbClr val="EAE5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9287669" y="4650482"/>
            <a:ext cx="16858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 e performance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2800" y="6217940"/>
            <a:ext cx="66881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Seção 2 — Método (p. 3–6), Tabela 1 e Seção 3.1 (p. 6–7)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FLUXO DE TRABALHO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ciclo de “satisfação de objetivos”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0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vibe coding não é um pedido único: é um ciclo que se repete até cada subobjetivo ser atingido ou abandonado.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352576"/>
            <a:ext cx="1416050" cy="1386780"/>
          </a:xfrm>
          <a:prstGeom prst="roundRect">
            <a:avLst>
              <a:gd name="adj" fmla="val 7097"/>
            </a:avLst>
          </a:prstGeom>
          <a:solidFill>
            <a:srgbClr val="1B1F2A"/>
          </a:solidFill>
          <a:ln w="6350">
            <a:solidFill>
              <a:srgbClr val="1B1F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46150" y="2508151"/>
            <a:ext cx="120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08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46150" y="2939951"/>
            <a:ext cx="120650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 o objetivo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9975" y="2352576"/>
            <a:ext cx="1416050" cy="1386780"/>
          </a:xfrm>
          <a:prstGeom prst="roundRect">
            <a:avLst>
              <a:gd name="adj" fmla="val 7097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470150" y="2508151"/>
            <a:ext cx="120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70150" y="2939951"/>
            <a:ext cx="120650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o código à 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63975" y="2352576"/>
            <a:ext cx="1416050" cy="1386780"/>
          </a:xfrm>
          <a:prstGeom prst="roundRect">
            <a:avLst>
              <a:gd name="adj" fmla="val 7097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994150" y="2508151"/>
            <a:ext cx="120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94150" y="2939951"/>
            <a:ext cx="120650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o código gerado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87975" y="2352576"/>
            <a:ext cx="1416050" cy="1386780"/>
          </a:xfrm>
          <a:prstGeom prst="roundRect">
            <a:avLst>
              <a:gd name="adj" fmla="val 7097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518150" y="2508151"/>
            <a:ext cx="120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518150" y="2939951"/>
            <a:ext cx="120650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Aceitar ou rejeitar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11975" y="2352576"/>
            <a:ext cx="1416050" cy="1386780"/>
          </a:xfrm>
          <a:prstGeom prst="roundRect">
            <a:avLst>
              <a:gd name="adj" fmla="val 7097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042150" y="2508151"/>
            <a:ext cx="120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42150" y="2939951"/>
            <a:ext cx="120650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na aplicação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35975" y="2352576"/>
            <a:ext cx="1416050" cy="1386780"/>
          </a:xfrm>
          <a:prstGeom prst="roundRect">
            <a:avLst>
              <a:gd name="adj" fmla="val 7097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566150" y="2508151"/>
            <a:ext cx="120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566150" y="2939951"/>
            <a:ext cx="120650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bugs e melhorias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959975" y="2352576"/>
            <a:ext cx="1416050" cy="1386780"/>
          </a:xfrm>
          <a:prstGeom prst="roundRect">
            <a:avLst>
              <a:gd name="adj" fmla="val 7097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0090150" y="2508151"/>
            <a:ext cx="120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0090150" y="2939951"/>
            <a:ext cx="1206500" cy="6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Refinar o prompt ou editar à mão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2800" y="399653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 2 a 7 se repetem · depois volta ao passo 1 com um novo objetivo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5975" y="4467027"/>
            <a:ext cx="10560050" cy="1144786"/>
          </a:xfrm>
          <a:prstGeom prst="roundRect">
            <a:avLst>
              <a:gd name="adj" fmla="val 8598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996950" y="4648002"/>
            <a:ext cx="10504043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96950" y="4968677"/>
            <a:ext cx="1050404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teste é constante: os programadores alternam entre o editor com IA (Cursor), o navegador, o console e o terminal para conferir cada mudança.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2800" y="6217940"/>
            <a:ext cx="41447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Seção 3.3 — Workflow (p. 8–9)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PROMPTS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misturam pedidos vagos e instruções técnicas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278856"/>
            <a:ext cx="6033294" cy="3156148"/>
          </a:xfrm>
          <a:prstGeom prst="roundRect">
            <a:avLst>
              <a:gd name="adj" fmla="val 3119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22350" y="2485231"/>
            <a:ext cx="578916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 observadas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2350" y="2820491"/>
            <a:ext cx="5789160" cy="16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Gerenciar o contexto: abrir nova conversa ou fechar abas para “limpar” a IA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Citar funções, variáveis e APIs pelo nome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pedidos em listas, com resultados e restrições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exemplos, trechos de código e mensagens de erro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Limitar o escopo: “só faça a fase um”, “não integre o Stripe ainda”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Anexar a documentação oficial da biblioteca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55644" y="2275681"/>
            <a:ext cx="4323556" cy="1858963"/>
          </a:xfrm>
          <a:prstGeom prst="roundRect">
            <a:avLst>
              <a:gd name="adj" fmla="val 5465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09644" y="2529681"/>
            <a:ext cx="3930023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“Começo fazendo perguntas bem bobas. Se a IA se confunde, passo a dar mais detalhes.”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09644" y="3454003"/>
            <a:ext cx="393002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08A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Programador do vídeo YT21 · Seção 3.4.3, p. 11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58819" y="4290219"/>
            <a:ext cx="4317206" cy="1144786"/>
          </a:xfrm>
          <a:prstGeom prst="roundRect">
            <a:avLst>
              <a:gd name="adj" fmla="val 8598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239794" y="4471194"/>
            <a:ext cx="4073914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Texto, mais que voz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39794" y="4791869"/>
            <a:ext cx="40739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Apesar de o cânone falar em ditar por voz, o texto digitado foi o modo principal de pedir código.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17940"/>
            <a:ext cx="43331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Seção 3.4 — Prompting (p. 9–12)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INTENÇÃO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de contexto: escolhas iniciais prendem o projeto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75681"/>
            <a:ext cx="504272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histórico da conversa e o código já gerado direcionam as próximas respostas da IA. Isso cria uma </a:t>
            </a:r>
            <a:r>
              <a:rPr lang="en-US" sz="1500" b="1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de caminho</a:t>
            </a:r>
            <a:r>
              <a:rPr lang="en-US" sz="15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sair da trilha inicial fica cada vez mais difícil.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3253581"/>
            <a:ext cx="504272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Também há lado positivo: no vídeo YT15, a ideia de animar o diagrama surgiu do código que a IA já tinha criado.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231481"/>
            <a:ext cx="504272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fronteira entre </a:t>
            </a:r>
            <a:r>
              <a:rPr lang="en-US" sz="1500" b="1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 e produção</a:t>
            </a:r>
            <a:r>
              <a:rPr lang="en-US" sz="15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fica borrada: o código funcional aparece já na fase de ideias.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65825" y="2278856"/>
            <a:ext cx="5410200" cy="3151584"/>
          </a:xfrm>
          <a:prstGeom prst="roundRect">
            <a:avLst>
              <a:gd name="adj" fmla="val 3123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223000" y="2536031"/>
            <a:ext cx="50427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Exemplo · app de câmbio (vídeo YT18)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23000" y="2850952"/>
            <a:ext cx="3048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04000" y="2850952"/>
            <a:ext cx="465029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 “dados históricos” de câmbio, sem dizer que queria um intervalo de datas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23000" y="3414713"/>
            <a:ext cx="3048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04000" y="3414713"/>
            <a:ext cx="465029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cria um seletor de uma única data; o usuário aceita porque “serve”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23000" y="3978473"/>
            <a:ext cx="3048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04000" y="3978473"/>
            <a:ext cx="465029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pede um intervalo de datas — e a IA continua buscando só uma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23000" y="4545409"/>
            <a:ext cx="4895850" cy="0"/>
          </a:xfrm>
          <a:prstGeom prst="line">
            <a:avLst/>
          </a:prstGeom>
          <a:noFill/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223000" y="4675584"/>
            <a:ext cx="504272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Aceitar o “quase certo” para ganhar velocidade pode custar caro depois.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17940"/>
            <a:ext cx="4427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Seção 3.2.2 — Intenções (p. 7–8)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DEPURAÇÃO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Depurar continua sendo híbrido: IA, ferramentas e humano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278856"/>
            <a:ext cx="3414117" cy="1888827"/>
          </a:xfrm>
          <a:prstGeom prst="roundRect">
            <a:avLst>
              <a:gd name="adj" fmla="val 5211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22350" y="2485231"/>
            <a:ext cx="3091408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2350" y="2805906"/>
            <a:ext cx="3091408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Colar o erro e pedir “Please fix it”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que ache e corrija o problema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de modelo quando um falha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42" y="2278856"/>
            <a:ext cx="3414216" cy="1888827"/>
          </a:xfrm>
          <a:prstGeom prst="roundRect">
            <a:avLst>
              <a:gd name="adj" fmla="val 5211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95217" y="2485231"/>
            <a:ext cx="309151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5217" y="2805906"/>
            <a:ext cx="309151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e aba de rede do navegador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e prints para rastrear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 hipóteses sobre a causa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809" y="2278856"/>
            <a:ext cx="3414216" cy="1888827"/>
          </a:xfrm>
          <a:prstGeom prst="roundRect">
            <a:avLst>
              <a:gd name="adj" fmla="val 5211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168184" y="2485231"/>
            <a:ext cx="309151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rápida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68184" y="2805906"/>
            <a:ext cx="3091510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Escanear os diffs verdes e vermelhos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Olhar chamadas, nomes e comentários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lote de diffs aceito em 2 segundos (YT21)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4428034"/>
            <a:ext cx="10560050" cy="1119386"/>
          </a:xfrm>
          <a:prstGeom prst="roundRect">
            <a:avLst>
              <a:gd name="adj" fmla="val 8793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47750" y="4609009"/>
            <a:ext cx="10399395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Alucinações observadas nos vídeos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47750" y="4904284"/>
            <a:ext cx="1039939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Propriedades que não existem (YT21), uma função exportada sem necessidade (TW1) e documentação de Next.js 14 num projeto em Next.js 15 (YT22).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17940"/>
            <a:ext cx="46157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Seção 3.5.1 — Debugging (p. 12–14)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QUESTÃO NORTEADORA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que ponto podemos confiar no código da IA?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744861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texto, a confiança é </a:t>
            </a:r>
            <a:r>
              <a:rPr lang="en-US" sz="1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granular, dinâmica e condicionada à revisão</a:t>
            </a:r>
            <a:r>
              <a:rPr lang="en-US" sz="16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construída por verificação, nunca aceita em bloco.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570956"/>
            <a:ext cx="3418384" cy="2417366"/>
          </a:xfrm>
          <a:prstGeom prst="roundRect">
            <a:avLst>
              <a:gd name="adj" fmla="val 4072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22350" y="2777331"/>
            <a:ext cx="3095803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antes de aceitar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2350" y="3098006"/>
            <a:ext cx="3095803" cy="1411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e escanear os diffs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na aplicação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com a documentação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se APIs e nomes existem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o pull request antes do deploy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3109" y="2570956"/>
            <a:ext cx="3418483" cy="2417366"/>
          </a:xfrm>
          <a:prstGeom prst="roundRect">
            <a:avLst>
              <a:gd name="adj" fmla="val 4072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99484" y="2777331"/>
            <a:ext cx="3095905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de aceitar sem revisar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9484" y="3098006"/>
            <a:ext cx="3095905" cy="1411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e propriedades inexistentes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“complicado demais” e dívida técnica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 de controle e de autoria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não tem expertise não vê o erro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67166" y="2567781"/>
            <a:ext cx="3412034" cy="2423716"/>
          </a:xfrm>
          <a:prstGeom prst="roundRect">
            <a:avLst>
              <a:gd name="adj" fmla="val 4192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170366" y="2770981"/>
            <a:ext cx="309580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“Gosto de revisar as mudanças porque isso me ajuda a continuar no controle.”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70366" y="3644106"/>
            <a:ext cx="30958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08A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YT21 · p. 17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70366" y="3959027"/>
            <a:ext cx="309580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“Não acredito em seguir a IA cegamente.”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70366" y="4574977"/>
            <a:ext cx="30958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08A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YT22 · p. 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17940"/>
            <a:ext cx="63113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Seção 3.8 — Confiança (p. 17–18) e Conclusão (p. 25)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QUESTÃO NORTEADORA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reduz ou transforma o conhecimento necessário?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719461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Transforma.</a:t>
            </a:r>
            <a:r>
              <a:rPr lang="en-US" sz="16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expertise não é substituída, é redirecionada: o programador vira diretor, revisor e editor, não mais autor linha a linha.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520156"/>
            <a:ext cx="3414117" cy="1375866"/>
          </a:xfrm>
          <a:prstGeom prst="roundRect">
            <a:avLst>
              <a:gd name="adj" fmla="val 7154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96950" y="2701131"/>
            <a:ext cx="3143732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tradicional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6950" y="3021806"/>
            <a:ext cx="314373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manutenção do código, depuração, arquitetura, bancos de dados e APIs.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8842" y="2520156"/>
            <a:ext cx="3414216" cy="1375866"/>
          </a:xfrm>
          <a:prstGeom prst="roundRect">
            <a:avLst>
              <a:gd name="adj" fmla="val 7154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69817" y="2701131"/>
            <a:ext cx="3143834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Letramento em 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69817" y="3021806"/>
            <a:ext cx="314383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modelos, técnicas de prompt, janela de contexto e os limites da geração de código.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61809" y="2520156"/>
            <a:ext cx="3414216" cy="1375866"/>
          </a:xfrm>
          <a:prstGeom prst="roundRect">
            <a:avLst>
              <a:gd name="adj" fmla="val 7154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142784" y="2701131"/>
            <a:ext cx="3143834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de produto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42784" y="3021806"/>
            <a:ext cx="314383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objetivos em funcionalidades e decidir o que fica e o que sai do produto.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12779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Novas competências críticas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4569718"/>
            <a:ext cx="1694160" cy="340320"/>
          </a:xfrm>
          <a:prstGeom prst="roundRect">
            <a:avLst>
              <a:gd name="adj" fmla="val 50000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52500" y="4633218"/>
            <a:ext cx="1465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Gerenciar o contexto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83160" y="4569718"/>
            <a:ext cx="2123480" cy="340320"/>
          </a:xfrm>
          <a:prstGeom prst="roundRect">
            <a:avLst>
              <a:gd name="adj" fmla="val 50000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722860" y="4633218"/>
            <a:ext cx="18994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código rapidamente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82840" y="4569718"/>
            <a:ext cx="2355255" cy="340320"/>
          </a:xfrm>
          <a:prstGeom prst="roundRect">
            <a:avLst>
              <a:gd name="adj" fmla="val 50000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922540" y="4633218"/>
            <a:ext cx="21381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quando a IA falha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14295" y="4569718"/>
            <a:ext cx="2710855" cy="340320"/>
          </a:xfrm>
          <a:prstGeom prst="roundRect">
            <a:avLst>
              <a:gd name="adj" fmla="val 50000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353995" y="4633218"/>
            <a:ext cx="25043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quando alternar IA e manual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5138638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B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do texto: a “competência ambiente” — sentir-se capaz de qualquer tarefa só porque a IA existe, sem ter a habilidade de fato.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17940"/>
            <a:ext cx="73475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Seções 3.7.1 e 3.7.2 — Expertise (p. 15–16) e Conclusão (p. 25)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QUESTÃO NORTEADORA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a IA e quando assumir o controle?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744861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 mostra que escolher entre IA e trabalho manual gera uma nova carga metacognitiva. Com base nos casos observados, propomos estes critérios: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532261"/>
          <a:ext cx="10566400" cy="2258517"/>
        </p:xfrm>
        <a:graphic>
          <a:graphicData uri="http://schemas.openxmlformats.org/drawingml/2006/table">
            <a:tbl>
              <a:tblPr/>
              <a:tblGrid>
                <a:gridCol w="2007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Delegar à 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Colaborar com a 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Fazer manualmente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35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da tarefa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3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Edições grandes e trabalhosas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3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Funcionalidade nova, feita em fases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3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Ajuste pequeno, de uma linha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da 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3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Atende ao pedido após revisão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3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Chegou perto: aceitar e ajustar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3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 difícil de guiar, repete o erro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3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 claro: colar a mensagem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3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Humano diagnostica, IA corrige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3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Ambiente e configuração (.env)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35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Velocidade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3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Pedir é mais rápido que fazer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3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Revisar cada diff enquanto gera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E3C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Escrever o prompt custa mais que editar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C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17940"/>
            <a:ext cx="63113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Seções 3.7.3 (p. 16–17), 3.6.1 (p. 14) e 4.1 (p. 20)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17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ESTUDO DE CASO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código passou no teste inicial. E agora?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4241800" cy="2697063"/>
          </a:xfrm>
          <a:prstGeom prst="roundRect">
            <a:avLst>
              <a:gd name="adj" fmla="val 3767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66800" y="2082701"/>
            <a:ext cx="3845814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situação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417961"/>
            <a:ext cx="3845814" cy="1269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8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pediu à IA a funcionalidade completa. O código parece funcionar e passou em um teste, mas ninguém revisou dependências, segurança, manutenibilidade nem o impacto no resto do sistema.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6800" y="3763764"/>
            <a:ext cx="38458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08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do grupo: ainda não incorporar.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60975" y="1831876"/>
            <a:ext cx="6115050" cy="2690713"/>
          </a:xfrm>
          <a:prstGeom prst="roundRect">
            <a:avLst>
              <a:gd name="adj" fmla="val 3658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518150" y="2089051"/>
            <a:ext cx="5768721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incorporar ao projeto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18150" y="2424311"/>
            <a:ext cx="5768721" cy="16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e entender a solução inteira (diffs, chamadas, nomes)</a:t>
            </a:r>
            <a:endParaRPr lang="en-US" sz="1300" dirty="0"/>
          </a:p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os testes: casos-limite, integração e regressão</a:t>
            </a:r>
            <a:endParaRPr lang="en-US" sz="1300" dirty="0"/>
          </a:p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dependências: se existem, se são necessárias e as versões</a:t>
            </a:r>
            <a:endParaRPr lang="en-US" sz="1300" dirty="0"/>
          </a:p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segurança: entradas, autenticação, segredos e dados</a:t>
            </a:r>
            <a:endParaRPr lang="en-US" sz="1300" dirty="0"/>
          </a:p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manutenibilidade e dívida técnica; simplificar o código</a:t>
            </a:r>
            <a:endParaRPr lang="en-US" sz="1300" dirty="0"/>
          </a:p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o impacto em outras partes do sistema</a:t>
            </a:r>
            <a:endParaRPr lang="en-US" sz="1300" dirty="0"/>
          </a:p>
          <a:p>
            <a:pPr marL="198120" indent="-198120" algn="l">
              <a:lnSpc>
                <a:spcPts val="1820"/>
              </a:lnSpc>
              <a:buSzPct val="100000"/>
              <a:buFontTx/>
              <a:buAutoNum type="arabicPeriod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por outro integrante (pull request) antes do merge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17940"/>
            <a:ext cx="61229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ligado às Seções 3.2.2, 3.5, 3.8 e 3.9.2 (p. 7–19)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ESTUDO DE CASO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artigo ensina — e o que continua humano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31876"/>
            <a:ext cx="5700216" cy="3160415"/>
          </a:xfrm>
          <a:prstGeom prst="roundRect">
            <a:avLst>
              <a:gd name="adj" fmla="val 3114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73150" y="2089051"/>
            <a:ext cx="534144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do texto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424311"/>
            <a:ext cx="5341442" cy="2336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Pular testes para manter o ritmo (“vou só improvisar”) aparece nos vídeos — 3.9.2, p. 19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inventa propriedades e erra versões de bibliotecas — 3.5.1, p. 12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erro aceito cedo se propaga pelo momentum de contexto — 3.2.2, p. 8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não enxerga dependências que estão só na cabeça do programador — 3.5.1, p. 14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 base de 150 mil linhas, TW1 revisa o pull request até de páginas simples — 3.8, p. 18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22566" y="1828701"/>
            <a:ext cx="4656634" cy="3166765"/>
          </a:xfrm>
          <a:prstGeom prst="roundRect">
            <a:avLst>
              <a:gd name="adj" fmla="val 3208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976566" y="2082701"/>
            <a:ext cx="4273093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 humanas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76566" y="2782987"/>
            <a:ext cx="4273093" cy="1269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D8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o que entra no projeto</a:t>
            </a:r>
            <a:endParaRPr lang="en-US" sz="1400" dirty="0"/>
          </a:p>
          <a:p>
            <a:pPr marL="213360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D8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código que assina</a:t>
            </a:r>
            <a:endParaRPr lang="en-US" sz="1400" dirty="0"/>
          </a:p>
          <a:p>
            <a:pPr marL="213360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D8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 a segurança e os dados</a:t>
            </a:r>
            <a:endParaRPr lang="en-US" sz="1400" dirty="0"/>
          </a:p>
          <a:p>
            <a:pPr marL="213360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D8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Enxergar o sistema como um todo</a:t>
            </a:r>
            <a:endParaRPr lang="en-US" sz="1400" dirty="0"/>
          </a:p>
          <a:p>
            <a:pPr marL="213360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D8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pelo resultado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76566" y="4493816"/>
            <a:ext cx="427309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F08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IA é só uma ferramenta.” — YT22, p. 18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17940"/>
            <a:ext cx="4427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Seções 3.2.2, 3.5.1, 3.8 e 3.9.2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DISCUSSÃO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Desengajamento material: o que se ganha e o que se perde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7568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programador deixa de trabalhar diretamente no seu “material”, o código, e passa a orquestrá-lo por meio da 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799556"/>
            <a:ext cx="5200650" cy="1657747"/>
          </a:xfrm>
          <a:prstGeom prst="roundRect">
            <a:avLst>
              <a:gd name="adj" fmla="val 5937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22350" y="3005931"/>
            <a:ext cx="493153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2350" y="3326606"/>
            <a:ext cx="4931537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trabalho tedioso de escrever código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protótipo ao produto mais rápido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de usar código mais simples, com menos dependências externas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5375" y="2799556"/>
            <a:ext cx="5200650" cy="1657747"/>
          </a:xfrm>
          <a:prstGeom prst="roundRect">
            <a:avLst>
              <a:gd name="adj" fmla="val 5937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81750" y="3005931"/>
            <a:ext cx="493153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Perdas e riscos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81750" y="3326606"/>
            <a:ext cx="4931537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aprendizado profundo que vem de “lutar” com o código, como o oleiro com o barro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 inflada pela “competência ambiente”</a:t>
            </a:r>
            <a:endParaRPr lang="en-US" sz="1300" dirty="0"/>
          </a:p>
          <a:p>
            <a:pPr marL="198120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Vídeos feitos para público tendem a exagerar o sucesso da 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4714478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B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Limitação do estudo: apenas 5 vídeos e nenhum não-programador — ainda não se sabe como iniciantes lidam com esses desafios.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6217940"/>
            <a:ext cx="6405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Seções 4.3 (p. 21–23), 3.9.2 (p. 19) e 4.5 (p. 24–25)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EVIDÊNCIAS DA LEITURA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Trechos </a:t>
            </a:r>
            <a:r>
              <a:rPr lang="en-US" sz="3200" b="1" dirty="0" err="1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chamaram</a:t>
            </a:r>
            <a:r>
              <a:rPr lang="en-US" sz="3200" b="1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atenção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676"/>
            <a:ext cx="3414117" cy="2473623"/>
          </a:xfrm>
          <a:prstGeom prst="roundRect">
            <a:avLst>
              <a:gd name="adj" fmla="val 3979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47750" y="2114451"/>
            <a:ext cx="303908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vibe coding não elimina a necessidade de expertise em programação; ele a redistribui.”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7750" y="3008412"/>
            <a:ext cx="30390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Resumo · p.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47750" y="3326507"/>
            <a:ext cx="2950567" cy="0"/>
          </a:xfrm>
          <a:prstGeom prst="line">
            <a:avLst/>
          </a:prstGeom>
          <a:noFill/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47750" y="3431282"/>
            <a:ext cx="303908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importa:</a:t>
            </a: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responde à Questão 2 — o conhecimento muda de forma, não desaparece.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8842" y="1882676"/>
            <a:ext cx="3414216" cy="2473623"/>
          </a:xfrm>
          <a:prstGeom prst="roundRect">
            <a:avLst>
              <a:gd name="adj" fmla="val 3979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20617" y="2114451"/>
            <a:ext cx="303918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“Os LLMs levam você a maior parte do caminho, mas não até o fim.”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20617" y="3008412"/>
            <a:ext cx="30391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TW1 · Seção 3.6.1 · p. 14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0617" y="3326507"/>
            <a:ext cx="2950666" cy="0"/>
          </a:xfrm>
          <a:prstGeom prst="line">
            <a:avLst/>
          </a:prstGeom>
          <a:noFill/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620617" y="3431282"/>
            <a:ext cx="303918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importa:</a:t>
            </a: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mostra por que revisar e ajustar à mão continua necessário.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61809" y="1882676"/>
            <a:ext cx="3414216" cy="2473623"/>
          </a:xfrm>
          <a:prstGeom prst="roundRect">
            <a:avLst>
              <a:gd name="adj" fmla="val 3979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193584" y="2114451"/>
            <a:ext cx="303918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“Não acredito em seguir a IA cegamente. […] A IA é só uma ferramenta.”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93584" y="3124002"/>
            <a:ext cx="30391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YT22 · Seção 3.8 · p. 18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3584" y="3557588"/>
            <a:ext cx="2950666" cy="0"/>
          </a:xfrm>
          <a:prstGeom prst="line">
            <a:avLst/>
          </a:prstGeom>
          <a:noFill/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193584" y="3662362"/>
            <a:ext cx="303918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importa:</a:t>
            </a: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resume a confiança condicionada que o texto defende.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17940"/>
            <a:ext cx="5934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citações em tradução livre do original em inglês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17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ENTREGÁVEL · BOAS PRÁTICAS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boas práticas para programar com 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31876"/>
            <a:ext cx="3414117" cy="2701032"/>
          </a:xfrm>
          <a:prstGeom prst="roundRect">
            <a:avLst>
              <a:gd name="adj" fmla="val 3644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47750" y="2063651"/>
            <a:ext cx="303908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47750" y="2724051"/>
            <a:ext cx="3039084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aceitar sem entender e testar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7750" y="3292971"/>
            <a:ext cx="303908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os diffs, testar além do “caminho feliz” e comparar com a documentação antes de aceitar.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7750" y="4087812"/>
            <a:ext cx="30390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Seções 3.5 e 3.8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8842" y="1831876"/>
            <a:ext cx="3414216" cy="2701032"/>
          </a:xfrm>
          <a:prstGeom prst="roundRect">
            <a:avLst>
              <a:gd name="adj" fmla="val 3644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20617" y="2063651"/>
            <a:ext cx="303918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620617" y="2724051"/>
            <a:ext cx="3039186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em partes, com contexto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0617" y="3292971"/>
            <a:ext cx="303918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fase por vez, restrições explícitas, exemplos e documentação; limpar o contexto ao mudar de tarefa.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20617" y="4087812"/>
            <a:ext cx="30391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3.4.2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1809" y="1831876"/>
            <a:ext cx="3414216" cy="2701032"/>
          </a:xfrm>
          <a:prstGeom prst="roundRect">
            <a:avLst>
              <a:gd name="adj" fmla="val 3644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193584" y="2063651"/>
            <a:ext cx="303918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B23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193584" y="2724051"/>
            <a:ext cx="3039186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as decisões com pessoas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93584" y="3292971"/>
            <a:ext cx="303918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quando assumir o controle manualmente e garantir que alguém da equipe responda por cada código.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93584" y="4087812"/>
            <a:ext cx="303918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Seções 3.7.3 e 3.8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4790083"/>
            <a:ext cx="10566400" cy="604441"/>
          </a:xfrm>
          <a:prstGeom prst="roundRect">
            <a:avLst>
              <a:gd name="adj" fmla="val 16809"/>
            </a:avLst>
          </a:prstGeom>
          <a:solidFill>
            <a:srgbClr val="1B1F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041400" y="4967883"/>
            <a:ext cx="104124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08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prática essencial:</a:t>
            </a: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nenhum código gerado por IA entra no projeto sem ser entendido, testado e revisado por uma pessoa.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17940"/>
            <a:ext cx="38621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Seções 3.4, 3.5, 3.7 e 3.8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17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F08A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SÍNTESE DO GRUPO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Programar com IA de maneira responsável não significa apenas saber pedir código; significa também…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2108002"/>
            <a:ext cx="10883392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8D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…saber avaliar, testar e assumir a responsabilidade pelo que a IA entrega. Como mostram Sarkar e Drosos, o vibe coding não elimina a expertise, mas a redistribui: o programador passa a dirigir, revisar e editar, gerenciando o contexto dos prompts e decidindo quando confiar e quando assumir o controle manualmente. A confiança deve ser construída por verificação contínua, e não por aceitação cega, porque a IA pode inventar APIs, propagar escolhas ruins e ignorar dependências que só a equipe conhece. Por isso, entender o código, proteger o sistema e responder pelo resultado continuam sendo responsabilidades humanas.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17940"/>
            <a:ext cx="62171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9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Resumo (p. 1), Seções 3.7 e 3.8 e Conclusão (p. 25)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39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17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23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 Perguntas?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676"/>
            <a:ext cx="10560050" cy="1509713"/>
          </a:xfrm>
          <a:prstGeom prst="roundRect">
            <a:avLst>
              <a:gd name="adj" fmla="val 6519"/>
            </a:avLst>
          </a:prstGeom>
          <a:solidFill>
            <a:srgbClr val="FDFCF8"/>
          </a:solidFill>
          <a:ln w="6350">
            <a:solidFill>
              <a:srgbClr val="DDD6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73150" y="2139851"/>
            <a:ext cx="10347071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SARKAR, Advait; DROSOS, Ian. Vibe coding: programming through conversation with artificial intelligence. In: </a:t>
            </a:r>
            <a:r>
              <a:rPr lang="en-US" sz="1400" i="1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Proceedings of the 36th Annual Conference of the Psychology of Programming Interest Group (PPIG 2025)</a:t>
            </a:r>
            <a:r>
              <a:rPr lang="en-US" sz="14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2025. arXiv:2506.23253.</a:t>
            </a:r>
            <a:endParaRPr lang="en-US" sz="1400" dirty="0"/>
          </a:p>
          <a:p>
            <a:pPr marL="213360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UNIVERSITÁRIO UDF. </a:t>
            </a:r>
            <a:r>
              <a:rPr lang="en-US" sz="1400" i="1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06 — Programação Assistida por Inteligência Artificial: orientações</a:t>
            </a:r>
            <a:r>
              <a:rPr lang="en-US" sz="1400" dirty="0">
                <a:solidFill>
                  <a:srgbClr val="3E3C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Tendências em Ciência da Computação, 2026.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70036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6B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códigos YT15, YT21, YT22, TW1 e YT18 são os identificadores que os autores usam para cada vídeo analisado.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6217940"/>
            <a:ext cx="49925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no texto: Citation (p. 1) e Apêndice A do artigo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38941" y="6217940"/>
            <a:ext cx="6910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3135</Words>
  <Application>Microsoft Office PowerPoint</Application>
  <PresentationFormat>Widescreen</PresentationFormat>
  <Paragraphs>293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e Colaboração Humano-IA</dc:title>
  <dc:subject>PptxGenJS Presentation</dc:subject>
  <dc:creator>PptxGenJS</dc:creator>
  <cp:lastModifiedBy>JHONATHAN DE MOURA SANTOS</cp:lastModifiedBy>
  <cp:revision>2</cp:revision>
  <dcterms:created xsi:type="dcterms:W3CDTF">2026-09-24T03:22:36Z</dcterms:created>
  <dcterms:modified xsi:type="dcterms:W3CDTF">2026-09-24T03:32:04Z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2026-09-24T03:32:04Z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7061fb81-303f-446f-bfe5-06a9aabb0fb2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